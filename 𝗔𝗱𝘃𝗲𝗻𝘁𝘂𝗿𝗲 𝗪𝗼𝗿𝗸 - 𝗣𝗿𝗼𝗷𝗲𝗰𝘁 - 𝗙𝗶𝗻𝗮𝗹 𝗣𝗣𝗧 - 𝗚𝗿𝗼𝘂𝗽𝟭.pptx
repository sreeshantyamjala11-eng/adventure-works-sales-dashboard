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42" r:id="rId5"/>
    <p:sldId id="372" r:id="rId6"/>
    <p:sldId id="385" r:id="rId7"/>
    <p:sldId id="387" r:id="rId8"/>
    <p:sldId id="388" r:id="rId9"/>
    <p:sldId id="384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02E"/>
    <a:srgbClr val="E3FBFE"/>
    <a:srgbClr val="000000"/>
    <a:srgbClr val="FFFFFF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E5BCBC-8FE9-47BF-924B-8B1ADC925CEE}" v="212" dt="2026-03-27T16:22:29.732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223" autoAdjust="0"/>
  </p:normalViewPr>
  <p:slideViewPr>
    <p:cSldViewPr snapToGrid="0" snapToObjects="1" showGuides="1">
      <p:cViewPr varScale="1">
        <p:scale>
          <a:sx n="84" d="100"/>
          <a:sy n="84" d="100"/>
        </p:scale>
        <p:origin x="351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766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67" y="445476"/>
            <a:ext cx="12191998" cy="3215641"/>
          </a:xfrm>
        </p:spPr>
        <p:txBody>
          <a:bodyPr anchor="b"/>
          <a:lstStyle/>
          <a:p>
            <a:r>
              <a:rPr lang="en-US" dirty="0"/>
              <a:t>Adventure works 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935" y="3960481"/>
            <a:ext cx="7791940" cy="346480"/>
          </a:xfrm>
        </p:spPr>
        <p:txBody>
          <a:bodyPr/>
          <a:lstStyle/>
          <a:p>
            <a:r>
              <a:rPr lang="en-US" sz="2400" b="1" dirty="0"/>
              <a:t>- Performance insights - </a:t>
            </a:r>
          </a:p>
          <a:p>
            <a:r>
              <a:rPr lang="en-US" sz="1600" b="1" dirty="0"/>
              <a:t>B</a:t>
            </a:r>
            <a:r>
              <a:rPr lang="en-US" sz="1600" dirty="0"/>
              <a:t>y Group 1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762" y="1122098"/>
            <a:ext cx="6327105" cy="1348533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  <a:latin typeface="Biome" panose="020B0503030204020804" pitchFamily="34" charset="0"/>
              </a:rPr>
              <a:t>members‍ </a:t>
            </a:r>
            <a:endParaRPr lang="en-US" b="1" dirty="0">
              <a:solidFill>
                <a:schemeClr val="tx2">
                  <a:lumMod val="20000"/>
                  <a:lumOff val="80000"/>
                </a:schemeClr>
              </a:solidFill>
              <a:latin typeface="Californian FB" panose="0207040306080B030204" pitchFamily="18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7256" y="3082131"/>
            <a:ext cx="6327105" cy="2653771"/>
          </a:xfrm>
        </p:spPr>
        <p:txBody>
          <a:bodyPr/>
          <a:lstStyle/>
          <a:p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fornian FB" panose="0207040306080B030204" pitchFamily="18" charset="0"/>
              </a:rPr>
              <a:t>NIKITHA </a:t>
            </a:r>
          </a:p>
          <a:p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fornian FB" panose="0207040306080B030204" pitchFamily="18" charset="0"/>
              </a:rPr>
              <a:t>AMITH RAJ</a:t>
            </a:r>
          </a:p>
          <a:p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fornian FB" panose="0207040306080B030204" pitchFamily="18" charset="0"/>
              </a:rPr>
              <a:t>VAITHEESWARAN</a:t>
            </a:r>
          </a:p>
          <a:p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fornian FB" panose="0207040306080B030204" pitchFamily="18" charset="0"/>
              </a:rPr>
              <a:t>YAMJALA SREESHANT</a:t>
            </a:r>
          </a:p>
          <a:p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fornian FB" panose="0207040306080B030204" pitchFamily="18" charset="0"/>
              </a:rPr>
              <a:t>RUCHA SIDDHARTH POKALE </a:t>
            </a:r>
          </a:p>
          <a:p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fornian FB" panose="0207040306080B030204" pitchFamily="18" charset="0"/>
              </a:rPr>
              <a:t>DEEPALI RAJKUMAR SUDAKE</a:t>
            </a:r>
          </a:p>
          <a:p>
            <a:pPr algn="l"/>
            <a:endParaRPr lang="en-US" sz="2000" b="1" dirty="0">
              <a:solidFill>
                <a:schemeClr val="tx2">
                  <a:lumMod val="20000"/>
                  <a:lumOff val="80000"/>
                </a:schemeClr>
              </a:solidFill>
              <a:latin typeface="Californian FB" panose="0207040306080B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A26D15-1B2D-1629-38EC-E2F08B1A0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808765"/>
              </p:ext>
            </p:extLst>
          </p:nvPr>
        </p:nvGraphicFramePr>
        <p:xfrm>
          <a:off x="3063570" y="2581239"/>
          <a:ext cx="4774476" cy="21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82068">
                  <a:extLst>
                    <a:ext uri="{9D8B030D-6E8A-4147-A177-3AD203B41FA5}">
                      <a16:colId xmlns:a16="http://schemas.microsoft.com/office/drawing/2014/main" val="1124573019"/>
                    </a:ext>
                  </a:extLst>
                </a:gridCol>
                <a:gridCol w="682068">
                  <a:extLst>
                    <a:ext uri="{9D8B030D-6E8A-4147-A177-3AD203B41FA5}">
                      <a16:colId xmlns:a16="http://schemas.microsoft.com/office/drawing/2014/main" val="1424683649"/>
                    </a:ext>
                  </a:extLst>
                </a:gridCol>
                <a:gridCol w="682068">
                  <a:extLst>
                    <a:ext uri="{9D8B030D-6E8A-4147-A177-3AD203B41FA5}">
                      <a16:colId xmlns:a16="http://schemas.microsoft.com/office/drawing/2014/main" val="2611834743"/>
                    </a:ext>
                  </a:extLst>
                </a:gridCol>
                <a:gridCol w="682068">
                  <a:extLst>
                    <a:ext uri="{9D8B030D-6E8A-4147-A177-3AD203B41FA5}">
                      <a16:colId xmlns:a16="http://schemas.microsoft.com/office/drawing/2014/main" val="829454316"/>
                    </a:ext>
                  </a:extLst>
                </a:gridCol>
                <a:gridCol w="682068">
                  <a:extLst>
                    <a:ext uri="{9D8B030D-6E8A-4147-A177-3AD203B41FA5}">
                      <a16:colId xmlns:a16="http://schemas.microsoft.com/office/drawing/2014/main" val="3418991368"/>
                    </a:ext>
                  </a:extLst>
                </a:gridCol>
                <a:gridCol w="682068">
                  <a:extLst>
                    <a:ext uri="{9D8B030D-6E8A-4147-A177-3AD203B41FA5}">
                      <a16:colId xmlns:a16="http://schemas.microsoft.com/office/drawing/2014/main" val="1936213079"/>
                    </a:ext>
                  </a:extLst>
                </a:gridCol>
                <a:gridCol w="682068">
                  <a:extLst>
                    <a:ext uri="{9D8B030D-6E8A-4147-A177-3AD203B41FA5}">
                      <a16:colId xmlns:a16="http://schemas.microsoft.com/office/drawing/2014/main" val="41030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021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000">
              <a:schemeClr val="tx2"/>
            </a:gs>
            <a:gs pos="80000">
              <a:schemeClr val="accent6">
                <a:lumMod val="50000"/>
              </a:schemeClr>
            </a:gs>
            <a:gs pos="9000">
              <a:schemeClr val="tx1"/>
            </a:gs>
            <a:gs pos="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8B5A-98CF-58C0-D5A6-3246BB48D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388" y="295335"/>
            <a:ext cx="6883555" cy="653143"/>
          </a:xfrm>
        </p:spPr>
        <p:txBody>
          <a:bodyPr/>
          <a:lstStyle/>
          <a:p>
            <a:r>
              <a:rPr lang="en-US" sz="3600" u="sng" dirty="0"/>
              <a:t>introduction</a:t>
            </a:r>
            <a:endParaRPr lang="en-IN" sz="36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53AB0-6FA6-45C1-9697-6EC1C6D05E93}"/>
              </a:ext>
            </a:extLst>
          </p:cNvPr>
          <p:cNvSpPr txBox="1"/>
          <p:nvPr/>
        </p:nvSpPr>
        <p:spPr>
          <a:xfrm>
            <a:off x="586175" y="1730525"/>
            <a:ext cx="37404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bg1">
                    <a:lumMod val="95000"/>
                  </a:schemeClr>
                </a:solidFill>
              </a:rPr>
              <a:t>Project Overview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&gt; Multi-tool analytics project covering sales data from Adventure Works 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&gt; Data integrated from Fact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</a:rPr>
              <a:t>InternetSales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&amp; Fact Internet Sales New (Union)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&gt; Enriched with Product, Customer &amp; Territory lookups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&gt; Spanning years 2010-2014 with 60,000+ order records</a:t>
            </a:r>
            <a:endParaRPr lang="en-IN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84111-E7A1-3280-76ED-26DCA160DDA7}"/>
              </a:ext>
            </a:extLst>
          </p:cNvPr>
          <p:cNvSpPr txBox="1"/>
          <p:nvPr/>
        </p:nvSpPr>
        <p:spPr>
          <a:xfrm>
            <a:off x="4551128" y="1723309"/>
            <a:ext cx="339776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bg1">
                    <a:lumMod val="95000"/>
                  </a:schemeClr>
                </a:solidFill>
              </a:rPr>
              <a:t>Objectives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&gt; Build unified sales dataset with calculated KPIS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&gt;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</a:rPr>
              <a:t>Analyse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 performance by year, month, quarter &amp;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region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&gt; Create interactive dashboards in Excel, Power BI &amp; Tableau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&gt; Deliver actionable insights for management decisions</a:t>
            </a:r>
            <a:endParaRPr lang="en-IN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CB85D0-81AC-A7A7-E826-3071099E1EB7}"/>
              </a:ext>
            </a:extLst>
          </p:cNvPr>
          <p:cNvSpPr txBox="1"/>
          <p:nvPr/>
        </p:nvSpPr>
        <p:spPr>
          <a:xfrm>
            <a:off x="8528627" y="1723309"/>
            <a:ext cx="316206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Dataset Details</a:t>
            </a:r>
          </a:p>
          <a:p>
            <a:endParaRPr lang="en-US" sz="1600" b="1" u="sng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&gt; Source: Adventure Works Data Warehouse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&gt; Tables: Fact Sales, Product, </a:t>
            </a:r>
            <a:r>
              <a:rPr lang="en-US" dirty="0">
                <a:solidFill>
                  <a:schemeClr val="bg1"/>
                </a:solidFill>
              </a:rPr>
              <a:t>Customer</a:t>
            </a:r>
            <a:r>
              <a:rPr lang="en-US" sz="1600" dirty="0">
                <a:solidFill>
                  <a:schemeClr val="bg1"/>
                </a:solidFill>
              </a:rPr>
              <a:t>, Territory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&gt; Key fields: Order Date, Unit Price, Cost, Quantity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&gt; Calculated: Sales Amount, Production Cost, Profit, Date fields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4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1200">
              <a:srgbClr val="20083F"/>
            </a:gs>
            <a:gs pos="100000">
              <a:schemeClr val="tx2"/>
            </a:gs>
            <a:gs pos="81000">
              <a:schemeClr val="accent6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C4B6BEA7-992F-D5CF-AFE8-E06E34197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455817"/>
            <a:ext cx="1169289" cy="1182316"/>
          </a:xfrm>
        </p:spPr>
        <p:txBody>
          <a:bodyPr/>
          <a:lstStyle/>
          <a:p>
            <a:r>
              <a:rPr lang="en-US" dirty="0"/>
              <a:t>n</a:t>
            </a:r>
            <a:endParaRPr lang="en-IN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A2EC446B-09C6-28C7-C53F-446942467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990998"/>
            <a:ext cx="542109" cy="1942276"/>
          </a:xfrm>
        </p:spPr>
        <p:txBody>
          <a:bodyPr/>
          <a:lstStyle/>
          <a:p>
            <a:r>
              <a:rPr lang="en-US" dirty="0" err="1"/>
              <a:t>nnn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195873-D373-F328-0FC1-8B71EF5E4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89" y="1970231"/>
            <a:ext cx="3246474" cy="41344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EC513A-4EFD-B0D3-BB83-7405E354D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771" y="1956562"/>
            <a:ext cx="3246474" cy="41480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3860B79-FE33-26A0-6C62-A5E766DF1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553" y="1942893"/>
            <a:ext cx="3050458" cy="41480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6300052-FC2D-394C-0C0C-07C073743423}"/>
              </a:ext>
            </a:extLst>
          </p:cNvPr>
          <p:cNvSpPr txBox="1"/>
          <p:nvPr/>
        </p:nvSpPr>
        <p:spPr>
          <a:xfrm>
            <a:off x="1568552" y="829772"/>
            <a:ext cx="94692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>
                <a:solidFill>
                  <a:schemeClr val="bg1"/>
                </a:solidFill>
                <a:latin typeface="+mj-lt"/>
              </a:rPr>
              <a:t>KEY PERFORMANCE INDICATORS </a:t>
            </a:r>
            <a:r>
              <a:rPr lang="en-US" sz="3200" dirty="0">
                <a:solidFill>
                  <a:schemeClr val="bg1"/>
                </a:solidFill>
                <a:latin typeface="+mj-lt"/>
              </a:rPr>
              <a:t>- </a:t>
            </a:r>
            <a:r>
              <a:rPr lang="en-US" sz="3200" u="sng" dirty="0">
                <a:solidFill>
                  <a:schemeClr val="bg1"/>
                </a:solidFill>
                <a:latin typeface="+mj-lt"/>
              </a:rPr>
              <a:t>OVERVIEW</a:t>
            </a:r>
            <a:endParaRPr lang="en-IN" sz="3200" u="sng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9738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FF18-0307-BFBA-2934-D395740A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342017" y="3429000"/>
            <a:ext cx="2917536" cy="25485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55B6F-8D92-18D8-130E-FD609780B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914" y="3962135"/>
            <a:ext cx="2107639" cy="265377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6B6B3-1B6D-0547-F4B1-48A02F93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0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C88F0E6-6F48-F7E8-9DD6-B7A2A889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09" y="751309"/>
            <a:ext cx="3538205" cy="273330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D79AA-E1FA-B10C-BAD4-DC677A618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D17DB4D-8CE1-ED34-4403-2A7457159085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28D98C1-AD1F-7C23-475E-280F1F010F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9B2A85-463B-85DE-8145-FA4B84B2F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9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0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0812-8C8B-9C5B-5DA3-C903A2FB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8DA0E-3190-2FA9-C9C0-40A21CA9E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21593-9A3F-7AFE-776E-ABC92BFF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" y="0"/>
            <a:ext cx="12141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24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9A68-1434-BA85-4917-9CED71BD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1E227-1490-525F-8066-216A472257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2783D-FA46-9236-67A3-D7F7E81FC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6470"/>
            <a:ext cx="12192000" cy="70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ADDB-B81E-5083-6B4F-D64A48B19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7A33B-9BDF-2868-3FE6-744FCFE1D2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B550F6E-B35F-4416-5311-4678E5671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2F596FE-A488-4C78-CACC-C2A7876DFB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D62611-EA5E-33D0-24BB-5D10944EA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" y="0"/>
            <a:ext cx="1217509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302F40-CF3F-F781-30F4-AAA2FCAB2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91" y="1300606"/>
            <a:ext cx="7400391" cy="52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51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54DD-94E1-7581-8E02-B7F595719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D7157-11B7-076C-C5E5-B2F68D52A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0A623-5AA7-D278-81DF-296D62CE9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" y="0"/>
            <a:ext cx="1218009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41FAED-B26B-EF6F-1F97-7D38AE7A6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26" y="1434756"/>
            <a:ext cx="7425857" cy="505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2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962C-17D3-0C42-01F3-BE980EFB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14971-4920-7446-D2F6-1DB31A1A6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15E9A-0EDD-2435-AB47-B43C84877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27C11-1895-ABDB-14F1-AE5CEA474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04" y="1891274"/>
            <a:ext cx="7378479" cy="43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2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6354-DF63-9DA8-DCE9-0933046B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7EF28-4E0F-6869-3946-A615498FD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D62DD-B46E-CADB-0C13-79FB10550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3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69FA-3277-1A20-093D-906BB66B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E5FBC-A440-908D-3F19-A046DD965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AFA0F-FDEA-B7F9-053A-55D9A2DF5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7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7CED-6999-2D78-E3F6-92E1B7965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795" y="270287"/>
            <a:ext cx="4409514" cy="2203704"/>
          </a:xfrm>
        </p:spPr>
        <p:txBody>
          <a:bodyPr/>
          <a:lstStyle/>
          <a:p>
            <a:r>
              <a:rPr lang="en-US" dirty="0"/>
              <a:t>Thank you…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9973F-617A-6BEE-1077-635F40A861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75865" y="3056403"/>
            <a:ext cx="2388428" cy="794302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BY GROUP 1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821099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documentManagement/types"/>
    <ds:schemaRef ds:uri="16c05727-aa75-4e4a-9b5f-8a80a1165891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sharepoint/v3"/>
    <ds:schemaRef ds:uri="http://purl.org/dc/terms/"/>
    <ds:schemaRef ds:uri="71af3243-3dd4-4a8d-8c0d-dd76da1f02a5"/>
    <ds:schemaRef ds:uri="http://schemas.openxmlformats.org/package/2006/metadata/core-properties"/>
    <ds:schemaRef ds:uri="230e9df3-be65-4c73-a93b-d1236ebd677e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649</TotalTime>
  <Words>168</Words>
  <Application>Microsoft Office PowerPoint</Application>
  <PresentationFormat>Widescreen</PresentationFormat>
  <Paragraphs>47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Nova</vt:lpstr>
      <vt:lpstr>Biome</vt:lpstr>
      <vt:lpstr>Calibri</vt:lpstr>
      <vt:lpstr>Californian FB</vt:lpstr>
      <vt:lpstr>Custom</vt:lpstr>
      <vt:lpstr>Adventure works </vt:lpstr>
      <vt:lpstr>members‍ </vt:lpstr>
      <vt:lpstr>introduction</vt:lpstr>
      <vt:lpstr>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amith raj</dc:creator>
  <cp:lastModifiedBy>amith raj</cp:lastModifiedBy>
  <cp:revision>5</cp:revision>
  <dcterms:created xsi:type="dcterms:W3CDTF">2026-03-27T07:44:37Z</dcterms:created>
  <dcterms:modified xsi:type="dcterms:W3CDTF">2026-03-29T14:27:38Z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